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224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DB2386-823F-4CAB-B631-2544C53FF2F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73378C-0E25-4FFE-92BC-B7696C86F8DE}">
      <dgm:prSet/>
      <dgm:spPr/>
      <dgm:t>
        <a:bodyPr/>
        <a:lstStyle/>
        <a:p>
          <a:r>
            <a:rPr lang="en-US"/>
            <a:t>D0: Overall backtest engine (inputs → outputs)</a:t>
          </a:r>
        </a:p>
      </dgm:t>
    </dgm:pt>
    <dgm:pt modelId="{12824D7F-F44F-40AD-BE36-DD0D62BF5EEE}" type="parTrans" cxnId="{FE2B8986-C2E4-4CD6-93C0-9C8A9A2235D3}">
      <dgm:prSet/>
      <dgm:spPr/>
      <dgm:t>
        <a:bodyPr/>
        <a:lstStyle/>
        <a:p>
          <a:endParaRPr lang="en-US"/>
        </a:p>
      </dgm:t>
    </dgm:pt>
    <dgm:pt modelId="{00D60430-8D66-4174-BB63-04968487E05C}" type="sibTrans" cxnId="{FE2B8986-C2E4-4CD6-93C0-9C8A9A2235D3}">
      <dgm:prSet/>
      <dgm:spPr/>
      <dgm:t>
        <a:bodyPr/>
        <a:lstStyle/>
        <a:p>
          <a:endParaRPr lang="en-US"/>
        </a:p>
      </dgm:t>
    </dgm:pt>
    <dgm:pt modelId="{D1BF3C44-8DD5-4424-B381-751B1F43559F}">
      <dgm:prSet/>
      <dgm:spPr/>
      <dgm:t>
        <a:bodyPr/>
        <a:lstStyle/>
        <a:p>
          <a:r>
            <a:rPr lang="en-US"/>
            <a:t>D1: Subsystems: Data Loader → Strategy Logic → Results</a:t>
          </a:r>
        </a:p>
      </dgm:t>
    </dgm:pt>
    <dgm:pt modelId="{04DECE4C-C567-4C73-81C9-7827A5AB48B6}" type="parTrans" cxnId="{6DC8BC6A-9BA5-40FD-AC48-D20CE8FC6B04}">
      <dgm:prSet/>
      <dgm:spPr/>
      <dgm:t>
        <a:bodyPr/>
        <a:lstStyle/>
        <a:p>
          <a:endParaRPr lang="en-US"/>
        </a:p>
      </dgm:t>
    </dgm:pt>
    <dgm:pt modelId="{ED8F63D7-33F7-43C9-B1CB-ED8955AD69B4}" type="sibTrans" cxnId="{6DC8BC6A-9BA5-40FD-AC48-D20CE8FC6B04}">
      <dgm:prSet/>
      <dgm:spPr/>
      <dgm:t>
        <a:bodyPr/>
        <a:lstStyle/>
        <a:p>
          <a:endParaRPr lang="en-US"/>
        </a:p>
      </dgm:t>
    </dgm:pt>
    <dgm:pt modelId="{8E7D0E3A-4102-422D-B40C-5C311614636E}">
      <dgm:prSet/>
      <dgm:spPr/>
      <dgm:t>
        <a:bodyPr/>
        <a:lstStyle/>
        <a:p>
          <a:r>
            <a:rPr lang="en-US"/>
            <a:t>D2: Detailed modules: Data Import &amp; Cleaning, Signals &amp; Execution, Metrics &amp; Reports</a:t>
          </a:r>
        </a:p>
      </dgm:t>
    </dgm:pt>
    <dgm:pt modelId="{7B4027E4-A523-49C9-BA83-7479CDA6FAE0}" type="parTrans" cxnId="{64A7A297-9832-4025-975C-CB84C001F2C3}">
      <dgm:prSet/>
      <dgm:spPr/>
      <dgm:t>
        <a:bodyPr/>
        <a:lstStyle/>
        <a:p>
          <a:endParaRPr lang="en-US"/>
        </a:p>
      </dgm:t>
    </dgm:pt>
    <dgm:pt modelId="{EA4C438B-91F3-4191-BED9-0AED22546FC7}" type="sibTrans" cxnId="{64A7A297-9832-4025-975C-CB84C001F2C3}">
      <dgm:prSet/>
      <dgm:spPr/>
      <dgm:t>
        <a:bodyPr/>
        <a:lstStyle/>
        <a:p>
          <a:endParaRPr lang="en-US"/>
        </a:p>
      </dgm:t>
    </dgm:pt>
    <dgm:pt modelId="{EB91AE25-6AE5-4B9C-9FE0-1299160F6F3D}" type="pres">
      <dgm:prSet presAssocID="{F5DB2386-823F-4CAB-B631-2544C53FF2FD}" presName="outerComposite" presStyleCnt="0">
        <dgm:presLayoutVars>
          <dgm:chMax val="5"/>
          <dgm:dir/>
          <dgm:resizeHandles val="exact"/>
        </dgm:presLayoutVars>
      </dgm:prSet>
      <dgm:spPr/>
    </dgm:pt>
    <dgm:pt modelId="{B776BD32-4A80-4E77-B527-03690E67A02C}" type="pres">
      <dgm:prSet presAssocID="{F5DB2386-823F-4CAB-B631-2544C53FF2FD}" presName="dummyMaxCanvas" presStyleCnt="0">
        <dgm:presLayoutVars/>
      </dgm:prSet>
      <dgm:spPr/>
    </dgm:pt>
    <dgm:pt modelId="{A49FBDF5-06BB-47E3-86D5-F8147DA151A2}" type="pres">
      <dgm:prSet presAssocID="{F5DB2386-823F-4CAB-B631-2544C53FF2FD}" presName="ThreeNodes_1" presStyleLbl="node1" presStyleIdx="0" presStyleCnt="3">
        <dgm:presLayoutVars>
          <dgm:bulletEnabled val="1"/>
        </dgm:presLayoutVars>
      </dgm:prSet>
      <dgm:spPr/>
    </dgm:pt>
    <dgm:pt modelId="{95F066CE-E871-44E6-AE58-2333D78B3113}" type="pres">
      <dgm:prSet presAssocID="{F5DB2386-823F-4CAB-B631-2544C53FF2FD}" presName="ThreeNodes_2" presStyleLbl="node1" presStyleIdx="1" presStyleCnt="3">
        <dgm:presLayoutVars>
          <dgm:bulletEnabled val="1"/>
        </dgm:presLayoutVars>
      </dgm:prSet>
      <dgm:spPr/>
    </dgm:pt>
    <dgm:pt modelId="{B71DB1B2-7BF1-4D1E-A0BF-FD5E4B1BAE88}" type="pres">
      <dgm:prSet presAssocID="{F5DB2386-823F-4CAB-B631-2544C53FF2FD}" presName="ThreeNodes_3" presStyleLbl="node1" presStyleIdx="2" presStyleCnt="3">
        <dgm:presLayoutVars>
          <dgm:bulletEnabled val="1"/>
        </dgm:presLayoutVars>
      </dgm:prSet>
      <dgm:spPr/>
    </dgm:pt>
    <dgm:pt modelId="{5DA1053D-A69B-44D6-B86B-771D3CA840E6}" type="pres">
      <dgm:prSet presAssocID="{F5DB2386-823F-4CAB-B631-2544C53FF2FD}" presName="ThreeConn_1-2" presStyleLbl="fgAccFollowNode1" presStyleIdx="0" presStyleCnt="2">
        <dgm:presLayoutVars>
          <dgm:bulletEnabled val="1"/>
        </dgm:presLayoutVars>
      </dgm:prSet>
      <dgm:spPr/>
    </dgm:pt>
    <dgm:pt modelId="{5EE1622D-4F4A-4919-BBAE-6660308AFDE9}" type="pres">
      <dgm:prSet presAssocID="{F5DB2386-823F-4CAB-B631-2544C53FF2FD}" presName="ThreeConn_2-3" presStyleLbl="fgAccFollowNode1" presStyleIdx="1" presStyleCnt="2">
        <dgm:presLayoutVars>
          <dgm:bulletEnabled val="1"/>
        </dgm:presLayoutVars>
      </dgm:prSet>
      <dgm:spPr/>
    </dgm:pt>
    <dgm:pt modelId="{38017AE1-A1C1-4001-B146-0D03451C2C2D}" type="pres">
      <dgm:prSet presAssocID="{F5DB2386-823F-4CAB-B631-2544C53FF2FD}" presName="ThreeNodes_1_text" presStyleLbl="node1" presStyleIdx="2" presStyleCnt="3">
        <dgm:presLayoutVars>
          <dgm:bulletEnabled val="1"/>
        </dgm:presLayoutVars>
      </dgm:prSet>
      <dgm:spPr/>
    </dgm:pt>
    <dgm:pt modelId="{E1AA2A44-28AF-4DC9-A760-3F7880B19083}" type="pres">
      <dgm:prSet presAssocID="{F5DB2386-823F-4CAB-B631-2544C53FF2FD}" presName="ThreeNodes_2_text" presStyleLbl="node1" presStyleIdx="2" presStyleCnt="3">
        <dgm:presLayoutVars>
          <dgm:bulletEnabled val="1"/>
        </dgm:presLayoutVars>
      </dgm:prSet>
      <dgm:spPr/>
    </dgm:pt>
    <dgm:pt modelId="{CB3D951B-AF71-4CCB-A198-51CEAFD35221}" type="pres">
      <dgm:prSet presAssocID="{F5DB2386-823F-4CAB-B631-2544C53FF2F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058431B-5E03-466D-8908-FB2A3CC1922D}" type="presOf" srcId="{ED8F63D7-33F7-43C9-B1CB-ED8955AD69B4}" destId="{5EE1622D-4F4A-4919-BBAE-6660308AFDE9}" srcOrd="0" destOrd="0" presId="urn:microsoft.com/office/officeart/2005/8/layout/vProcess5"/>
    <dgm:cxn modelId="{0D7FCA62-C499-4FAD-B3D0-ADD02F144088}" type="presOf" srcId="{00D60430-8D66-4174-BB63-04968487E05C}" destId="{5DA1053D-A69B-44D6-B86B-771D3CA840E6}" srcOrd="0" destOrd="0" presId="urn:microsoft.com/office/officeart/2005/8/layout/vProcess5"/>
    <dgm:cxn modelId="{A2A7A646-B99F-4871-BD48-9567D69888E1}" type="presOf" srcId="{D1BF3C44-8DD5-4424-B381-751B1F43559F}" destId="{95F066CE-E871-44E6-AE58-2333D78B3113}" srcOrd="0" destOrd="0" presId="urn:microsoft.com/office/officeart/2005/8/layout/vProcess5"/>
    <dgm:cxn modelId="{6DC8BC6A-9BA5-40FD-AC48-D20CE8FC6B04}" srcId="{F5DB2386-823F-4CAB-B631-2544C53FF2FD}" destId="{D1BF3C44-8DD5-4424-B381-751B1F43559F}" srcOrd="1" destOrd="0" parTransId="{04DECE4C-C567-4C73-81C9-7827A5AB48B6}" sibTransId="{ED8F63D7-33F7-43C9-B1CB-ED8955AD69B4}"/>
    <dgm:cxn modelId="{BB29C04B-F825-4983-9D81-C661D5F4E38B}" type="presOf" srcId="{2673378C-0E25-4FFE-92BC-B7696C86F8DE}" destId="{A49FBDF5-06BB-47E3-86D5-F8147DA151A2}" srcOrd="0" destOrd="0" presId="urn:microsoft.com/office/officeart/2005/8/layout/vProcess5"/>
    <dgm:cxn modelId="{B119D06D-A72E-41B7-91C7-F4CBA9131FA2}" type="presOf" srcId="{F5DB2386-823F-4CAB-B631-2544C53FF2FD}" destId="{EB91AE25-6AE5-4B9C-9FE0-1299160F6F3D}" srcOrd="0" destOrd="0" presId="urn:microsoft.com/office/officeart/2005/8/layout/vProcess5"/>
    <dgm:cxn modelId="{5D14E24E-7CE0-4CFC-A6F2-DF9EB27981A2}" type="presOf" srcId="{D1BF3C44-8DD5-4424-B381-751B1F43559F}" destId="{E1AA2A44-28AF-4DC9-A760-3F7880B19083}" srcOrd="1" destOrd="0" presId="urn:microsoft.com/office/officeart/2005/8/layout/vProcess5"/>
    <dgm:cxn modelId="{213AB184-F725-43B9-A4D4-220C3957A6D3}" type="presOf" srcId="{2673378C-0E25-4FFE-92BC-B7696C86F8DE}" destId="{38017AE1-A1C1-4001-B146-0D03451C2C2D}" srcOrd="1" destOrd="0" presId="urn:microsoft.com/office/officeart/2005/8/layout/vProcess5"/>
    <dgm:cxn modelId="{FE2B8986-C2E4-4CD6-93C0-9C8A9A2235D3}" srcId="{F5DB2386-823F-4CAB-B631-2544C53FF2FD}" destId="{2673378C-0E25-4FFE-92BC-B7696C86F8DE}" srcOrd="0" destOrd="0" parTransId="{12824D7F-F44F-40AD-BE36-DD0D62BF5EEE}" sibTransId="{00D60430-8D66-4174-BB63-04968487E05C}"/>
    <dgm:cxn modelId="{64A7A297-9832-4025-975C-CB84C001F2C3}" srcId="{F5DB2386-823F-4CAB-B631-2544C53FF2FD}" destId="{8E7D0E3A-4102-422D-B40C-5C311614636E}" srcOrd="2" destOrd="0" parTransId="{7B4027E4-A523-49C9-BA83-7479CDA6FAE0}" sibTransId="{EA4C438B-91F3-4191-BED9-0AED22546FC7}"/>
    <dgm:cxn modelId="{9B513BCF-3EA4-42B2-A171-E0B918FF171D}" type="presOf" srcId="{8E7D0E3A-4102-422D-B40C-5C311614636E}" destId="{CB3D951B-AF71-4CCB-A198-51CEAFD35221}" srcOrd="1" destOrd="0" presId="urn:microsoft.com/office/officeart/2005/8/layout/vProcess5"/>
    <dgm:cxn modelId="{A08BB3F9-BA2E-4BB9-8869-C3E978813D35}" type="presOf" srcId="{8E7D0E3A-4102-422D-B40C-5C311614636E}" destId="{B71DB1B2-7BF1-4D1E-A0BF-FD5E4B1BAE88}" srcOrd="0" destOrd="0" presId="urn:microsoft.com/office/officeart/2005/8/layout/vProcess5"/>
    <dgm:cxn modelId="{41CBD991-1799-43D2-836D-273A0DB8244B}" type="presParOf" srcId="{EB91AE25-6AE5-4B9C-9FE0-1299160F6F3D}" destId="{B776BD32-4A80-4E77-B527-03690E67A02C}" srcOrd="0" destOrd="0" presId="urn:microsoft.com/office/officeart/2005/8/layout/vProcess5"/>
    <dgm:cxn modelId="{1D9A01D4-1443-4FD7-B10B-C54BD3481F9C}" type="presParOf" srcId="{EB91AE25-6AE5-4B9C-9FE0-1299160F6F3D}" destId="{A49FBDF5-06BB-47E3-86D5-F8147DA151A2}" srcOrd="1" destOrd="0" presId="urn:microsoft.com/office/officeart/2005/8/layout/vProcess5"/>
    <dgm:cxn modelId="{126DA5EC-5D24-432E-8D75-2ED44385C904}" type="presParOf" srcId="{EB91AE25-6AE5-4B9C-9FE0-1299160F6F3D}" destId="{95F066CE-E871-44E6-AE58-2333D78B3113}" srcOrd="2" destOrd="0" presId="urn:microsoft.com/office/officeart/2005/8/layout/vProcess5"/>
    <dgm:cxn modelId="{9A0F68D8-C157-44A5-AD04-AD54A2C42D3C}" type="presParOf" srcId="{EB91AE25-6AE5-4B9C-9FE0-1299160F6F3D}" destId="{B71DB1B2-7BF1-4D1E-A0BF-FD5E4B1BAE88}" srcOrd="3" destOrd="0" presId="urn:microsoft.com/office/officeart/2005/8/layout/vProcess5"/>
    <dgm:cxn modelId="{AE3CBED6-B943-43D8-8D60-8269CF47CD42}" type="presParOf" srcId="{EB91AE25-6AE5-4B9C-9FE0-1299160F6F3D}" destId="{5DA1053D-A69B-44D6-B86B-771D3CA840E6}" srcOrd="4" destOrd="0" presId="urn:microsoft.com/office/officeart/2005/8/layout/vProcess5"/>
    <dgm:cxn modelId="{78AD2C17-CE83-4241-8F43-39FC80023E00}" type="presParOf" srcId="{EB91AE25-6AE5-4B9C-9FE0-1299160F6F3D}" destId="{5EE1622D-4F4A-4919-BBAE-6660308AFDE9}" srcOrd="5" destOrd="0" presId="urn:microsoft.com/office/officeart/2005/8/layout/vProcess5"/>
    <dgm:cxn modelId="{8BF44BF8-65DB-4F0D-A27A-6E78BC905D49}" type="presParOf" srcId="{EB91AE25-6AE5-4B9C-9FE0-1299160F6F3D}" destId="{38017AE1-A1C1-4001-B146-0D03451C2C2D}" srcOrd="6" destOrd="0" presId="urn:microsoft.com/office/officeart/2005/8/layout/vProcess5"/>
    <dgm:cxn modelId="{2D1E5C41-33C3-48AE-842A-79ABD0B0A49F}" type="presParOf" srcId="{EB91AE25-6AE5-4B9C-9FE0-1299160F6F3D}" destId="{E1AA2A44-28AF-4DC9-A760-3F7880B19083}" srcOrd="7" destOrd="0" presId="urn:microsoft.com/office/officeart/2005/8/layout/vProcess5"/>
    <dgm:cxn modelId="{1EAD241A-B0CA-4010-AC6C-35B035ABBBB0}" type="presParOf" srcId="{EB91AE25-6AE5-4B9C-9FE0-1299160F6F3D}" destId="{CB3D951B-AF71-4CCB-A198-51CEAFD3522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FBDF5-06BB-47E3-86D5-F8147DA151A2}">
      <dsp:nvSpPr>
        <dsp:cNvPr id="0" name=""/>
        <dsp:cNvSpPr/>
      </dsp:nvSpPr>
      <dsp:spPr>
        <a:xfrm>
          <a:off x="0" y="0"/>
          <a:ext cx="4361391" cy="995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D0: Overall backtest engine (inputs → outputs)</a:t>
          </a:r>
        </a:p>
      </dsp:txBody>
      <dsp:txXfrm>
        <a:off x="29162" y="29162"/>
        <a:ext cx="3286975" cy="937356"/>
      </dsp:txXfrm>
    </dsp:sp>
    <dsp:sp modelId="{95F066CE-E871-44E6-AE58-2333D78B3113}">
      <dsp:nvSpPr>
        <dsp:cNvPr id="0" name=""/>
        <dsp:cNvSpPr/>
      </dsp:nvSpPr>
      <dsp:spPr>
        <a:xfrm>
          <a:off x="384828" y="1161627"/>
          <a:ext cx="4361391" cy="995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D1: Subsystems: Data Loader → Strategy Logic → Results</a:t>
          </a:r>
        </a:p>
      </dsp:txBody>
      <dsp:txXfrm>
        <a:off x="413990" y="1190789"/>
        <a:ext cx="3271046" cy="937356"/>
      </dsp:txXfrm>
    </dsp:sp>
    <dsp:sp modelId="{B71DB1B2-7BF1-4D1E-A0BF-FD5E4B1BAE88}">
      <dsp:nvSpPr>
        <dsp:cNvPr id="0" name=""/>
        <dsp:cNvSpPr/>
      </dsp:nvSpPr>
      <dsp:spPr>
        <a:xfrm>
          <a:off x="769657" y="2323255"/>
          <a:ext cx="4361391" cy="995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D2: Detailed modules: Data Import &amp; Cleaning, Signals &amp; Execution, Metrics &amp; Reports</a:t>
          </a:r>
        </a:p>
      </dsp:txBody>
      <dsp:txXfrm>
        <a:off x="798819" y="2352417"/>
        <a:ext cx="3271046" cy="937356"/>
      </dsp:txXfrm>
    </dsp:sp>
    <dsp:sp modelId="{5DA1053D-A69B-44D6-B86B-771D3CA840E6}">
      <dsp:nvSpPr>
        <dsp:cNvPr id="0" name=""/>
        <dsp:cNvSpPr/>
      </dsp:nvSpPr>
      <dsp:spPr>
        <a:xfrm>
          <a:off x="3714199" y="755057"/>
          <a:ext cx="647192" cy="6471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859817" y="755057"/>
        <a:ext cx="355956" cy="487012"/>
      </dsp:txXfrm>
    </dsp:sp>
    <dsp:sp modelId="{5EE1622D-4F4A-4919-BBAE-6660308AFDE9}">
      <dsp:nvSpPr>
        <dsp:cNvPr id="0" name=""/>
        <dsp:cNvSpPr/>
      </dsp:nvSpPr>
      <dsp:spPr>
        <a:xfrm>
          <a:off x="4099027" y="1910047"/>
          <a:ext cx="647192" cy="6471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244645" y="1910047"/>
        <a:ext cx="355956" cy="487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01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3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01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6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91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1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66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7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3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631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03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86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47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631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7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52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6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10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9.png"/><Relationship Id="rId9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Backtest Strategy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Financial Back-Testing and Portfolio Optimization Framework</a:t>
            </a:r>
          </a:p>
          <a:p>
            <a:endParaRPr dirty="0"/>
          </a:p>
          <a:p>
            <a:r>
              <a:rPr dirty="0"/>
              <a:t>Course: </a:t>
            </a:r>
            <a:r>
              <a:rPr lang="en-US" dirty="0"/>
              <a:t>CS 5001 - </a:t>
            </a:r>
            <a:r>
              <a:rPr dirty="0"/>
              <a:t>Senior Design 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 &amp;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Jash Dedhia (</a:t>
            </a:r>
            <a:r>
              <a:rPr lang="en-US" dirty="0"/>
              <a:t>dedhiaja@mail.uc.edu</a:t>
            </a:r>
            <a:r>
              <a:rPr dirty="0"/>
              <a:t>)</a:t>
            </a:r>
          </a:p>
          <a:p>
            <a:r>
              <a:rPr dirty="0"/>
              <a:t>Omkar Sontake (</a:t>
            </a:r>
            <a:r>
              <a:rPr lang="en-US" dirty="0"/>
              <a:t>sontakor@mail.uc.edu</a:t>
            </a:r>
            <a:r>
              <a:rPr dirty="0"/>
              <a:t>)</a:t>
            </a:r>
          </a:p>
          <a:p>
            <a:r>
              <a:rPr dirty="0"/>
              <a:t>Advisor: </a:t>
            </a:r>
            <a:r>
              <a:rPr lang="en-US" dirty="0"/>
              <a:t>Hrishikesh Bhide (bhidehk@ucmail.uc.edu)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Our project is a financial back-testing and portfolio optimization framework designed to let users test trading ideas on historical datasets and analyze outcomes using metrics and charts.</a:t>
            </a:r>
          </a:p>
          <a:p>
            <a:r>
              <a:rPr dirty="0"/>
              <a:t>The system integrates user stories such as loading data, defining trading rules, and generating realistic results by accounting for factors like slippage and fees.</a:t>
            </a:r>
          </a:p>
          <a:p>
            <a:r>
              <a:rPr dirty="0"/>
              <a:t>This educational tool strengthens our technical skills in quantitative finance, algorithmic trading, and software design while promoting accessible and ethical financial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As a student analyst, I want to load historical price data for testing.</a:t>
            </a:r>
          </a:p>
          <a:p>
            <a:r>
              <a:rPr dirty="0"/>
              <a:t>As a developer, I want to define buy/sell rules and evaluate strategies.</a:t>
            </a:r>
          </a:p>
          <a:p>
            <a:r>
              <a:rPr dirty="0"/>
              <a:t>As a classmate, I want realistic assumptions (fees, slippage) applied.</a:t>
            </a:r>
          </a:p>
          <a:p>
            <a:r>
              <a:rPr dirty="0"/>
              <a:t>As a student, I want metrics (CAGR, Sharpe, max drawdown) and charts.</a:t>
            </a:r>
          </a:p>
          <a:p>
            <a:r>
              <a:rPr dirty="0"/>
              <a:t>As a teammate, I want results saved in CSV/plots for replication.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DF61640-4BA2-4D8F-A789-6FC691492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C38491-7C9C-4C3A-8CBA-06C361D29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802" y="0"/>
            <a:ext cx="9172471" cy="6856214"/>
            <a:chOff x="-15736" y="0"/>
            <a:chExt cx="12229962" cy="685621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5974E1A-4BF7-4DF7-8270-15606B1FA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63E7F0-D1DE-47EB-8F53-AB65CC95D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C0FF710-A6EC-4874-9F78-FAD4C11F0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57C5618-5497-41BE-96DA-C242CF6C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168" y="982132"/>
            <a:ext cx="5127498" cy="1303867"/>
          </a:xfrm>
        </p:spPr>
        <p:txBody>
          <a:bodyPr>
            <a:normAutofit/>
          </a:bodyPr>
          <a:lstStyle/>
          <a:p>
            <a:r>
              <a:t>Design Diagrams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86850E-B8A1-49A8-8191-E022DF9ED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483" y="1092200"/>
            <a:ext cx="1969821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77D800-CC67-E830-15C2-EE8CC1B94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592" y="4350741"/>
            <a:ext cx="1701601" cy="57003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4633C6-DD5A-4893-BD2E-CC579C500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89197" y="2400639"/>
            <a:ext cx="4663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97CDFF-6D6B-9AC5-14A4-CB11F5652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602" y="2630590"/>
            <a:ext cx="1701601" cy="523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FEE1F9-D057-47FE-7560-F4E2E3DDA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493" y="3426345"/>
            <a:ext cx="1701601" cy="314796"/>
          </a:xfrm>
          <a:prstGeom prst="rect">
            <a:avLst/>
          </a:prstGeom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6AA8B411-B4A8-692C-3D5B-774608AC33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55392" y="2556932"/>
          <a:ext cx="5131049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Project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Technical: Use Pandas, NumPy, Matplotlib in Python.</a:t>
            </a:r>
          </a:p>
          <a:p>
            <a:r>
              <a:rPr dirty="0"/>
              <a:t>Professional: Coding, documentation, teamwork.</a:t>
            </a:r>
          </a:p>
          <a:p>
            <a:r>
              <a:rPr dirty="0"/>
              <a:t>Ethical: Educational only, no investment advice.</a:t>
            </a:r>
          </a:p>
          <a:p>
            <a:r>
              <a:rPr dirty="0"/>
              <a:t>Legal/Security: Respect data rights, secure handling.</a:t>
            </a:r>
          </a:p>
          <a:p>
            <a:r>
              <a:rPr dirty="0"/>
              <a:t>Environmental/Social: Digital-only project, supports open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of Project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Completed: Requirement gathering, user stories, design diagrams.</a:t>
            </a:r>
          </a:p>
          <a:p>
            <a:r>
              <a:rPr dirty="0"/>
              <a:t>In Progress: Data cleaning, framework design (Nov–Dec 2025 milestones).</a:t>
            </a:r>
          </a:p>
          <a:p>
            <a:r>
              <a:rPr dirty="0"/>
              <a:t>Upcoming: </a:t>
            </a:r>
            <a:r>
              <a:rPr dirty="0" err="1"/>
              <a:t>Backtest</a:t>
            </a:r>
            <a:r>
              <a:rPr dirty="0"/>
              <a:t> engine development (Feb 2026), optimization (Mar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Expected Accomplishments (End of Term)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Working prototype of the back</a:t>
            </a:r>
            <a:r>
              <a:rPr lang="en-US" dirty="0"/>
              <a:t>-</a:t>
            </a:r>
            <a:r>
              <a:rPr dirty="0"/>
              <a:t>test engine.</a:t>
            </a:r>
          </a:p>
          <a:p>
            <a:r>
              <a:rPr dirty="0"/>
              <a:t>Integration of trading rules with results output.</a:t>
            </a:r>
          </a:p>
          <a:p>
            <a:r>
              <a:rPr dirty="0"/>
              <a:t>Early portfolio optimization module draft.</a:t>
            </a:r>
          </a:p>
          <a:p>
            <a:r>
              <a:rPr dirty="0"/>
              <a:t>Documentation of assumptions and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Division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Omkar: System design, trade simulation logic, architecture.</a:t>
            </a:r>
          </a:p>
          <a:p>
            <a:r>
              <a:rPr dirty="0"/>
              <a:t>Jash: Data collection, cleaning, testing, validation.</a:t>
            </a:r>
          </a:p>
          <a:p>
            <a:r>
              <a:rPr dirty="0"/>
              <a:t>Shared: Optimization module, documentation, final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Demo at Expo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Load sample financial dataset.</a:t>
            </a:r>
          </a:p>
          <a:p>
            <a:r>
              <a:rPr dirty="0"/>
              <a:t>Define strategy rules (buy/sell).</a:t>
            </a:r>
          </a:p>
          <a:p>
            <a:r>
              <a:rPr dirty="0"/>
              <a:t>Run a </a:t>
            </a:r>
            <a:r>
              <a:rPr dirty="0" err="1"/>
              <a:t>backtest</a:t>
            </a:r>
            <a:r>
              <a:rPr dirty="0"/>
              <a:t> simulation.</a:t>
            </a:r>
          </a:p>
          <a:p>
            <a:r>
              <a:rPr dirty="0"/>
              <a:t>Display metrics and equity curve.</a:t>
            </a:r>
          </a:p>
          <a:p>
            <a:r>
              <a:rPr dirty="0"/>
              <a:t>Preview optimization module (Sharpe ratio or mean-variance).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</TotalTime>
  <Words>466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Backtest Strategy Platform</vt:lpstr>
      <vt:lpstr>Team Members &amp; Advisor</vt:lpstr>
      <vt:lpstr>Project Abstract</vt:lpstr>
      <vt:lpstr>User Stories</vt:lpstr>
      <vt:lpstr>Design Diagrams</vt:lpstr>
      <vt:lpstr>Major Project Constraints</vt:lpstr>
      <vt:lpstr>Review of Project Progress</vt:lpstr>
      <vt:lpstr>Expected Accomplishments (End of Term)</vt:lpstr>
      <vt:lpstr>Division of Work</vt:lpstr>
      <vt:lpstr>Expected Demo at Expo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Jash Dedhia</cp:lastModifiedBy>
  <cp:revision>4</cp:revision>
  <dcterms:created xsi:type="dcterms:W3CDTF">2013-01-27T09:14:16Z</dcterms:created>
  <dcterms:modified xsi:type="dcterms:W3CDTF">2025-10-27T17:04:59Z</dcterms:modified>
  <cp:category/>
</cp:coreProperties>
</file>